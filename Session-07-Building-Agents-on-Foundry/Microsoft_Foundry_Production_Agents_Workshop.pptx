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304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65392"/>
            <a:ext cx="6949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FOUNDRY · AGENTS · OBSERVABILITY ·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8778240" y="6565392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973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Jothsna Praveena Pendyala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005840"/>
            <a:ext cx="4937760" cy="4937760"/>
          </a:xfrm>
          <a:prstGeom prst="ellipse">
            <a:avLst/>
          </a:prstGeom>
          <a:solidFill>
            <a:srgbClr val="6E42D8">
              <a:alpha val="28000"/>
            </a:srgbClr>
          </a:solidFill>
          <a:ln w="12700">
            <a:solidFill>
              <a:srgbClr val="6E42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3749040"/>
            <a:ext cx="3840480" cy="3840480"/>
          </a:xfrm>
          <a:prstGeom prst="ellipse">
            <a:avLst/>
          </a:prstGeom>
          <a:solidFill>
            <a:srgbClr val="2F6FED">
              <a:alpha val="28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60" dirty="0">
                <a:solidFill>
                  <a:srgbClr val="A9B8FF"/>
                </a:solidFill>
              </a:rPr>
              <a:t>BUILDING PRODUCTION-READY AI AGENTS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325880"/>
            <a:ext cx="7955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Microsoft Foundry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From Creation to Evaluation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4D9E5"/>
                </a:solidFill>
              </a:rPr>
              <a:t>Agent architectures · tools &amp; knowledge · tracing · monitoring · evaluation · production feedback loops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416052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16254C"/>
          </a:solidFill>
          <a:ln w="12700">
            <a:solidFill>
              <a:srgbClr val="3140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32688" y="43708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9B8FF"/>
                </a:solidFill>
              </a:rPr>
              <a:t>Industry Expert Session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464515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Jothsna Praveena Pendyala · Sep 5,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will cover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 practical architecture-to-operations view of Microsoft Foundry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331720" cy="3566160"/>
          </a:xfrm>
          <a:prstGeom prst="roundRect">
            <a:avLst>
              <a:gd name="adj" fmla="val 3137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783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42D8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C"/>
                </a:solidFill>
              </a:rPr>
              <a:t>Build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1920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Prompt agents, hosted agents, workflows, tools, knowledge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1508760"/>
            <a:ext cx="2331720" cy="3566160"/>
          </a:xfrm>
          <a:prstGeom prst="roundRect">
            <a:avLst>
              <a:gd name="adj" fmla="val 3137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blurRad="322580000" dist="161290000"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703320" y="1783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42D8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0332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C"/>
                </a:solidFill>
              </a:rPr>
              <a:t>Operate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703320" y="2926080"/>
            <a:ext cx="1920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Tracing, monitoring, Application Insights, production metrics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508760"/>
            <a:ext cx="2331720" cy="3566160"/>
          </a:xfrm>
          <a:prstGeom prst="roundRect">
            <a:avLst>
              <a:gd name="adj" fmla="val 3137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83680" y="1783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42D8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C"/>
                </a:solidFill>
              </a:rPr>
              <a:t>Evaluate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83680" y="2926080"/>
            <a:ext cx="1920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System, process/tool, quality, safety, datasets &amp; traces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81160" y="1508760"/>
            <a:ext cx="2331720" cy="3566160"/>
          </a:xfrm>
          <a:prstGeom prst="roundRect">
            <a:avLst>
              <a:gd name="adj" fmla="val 3137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464040" y="178308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42D8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6404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7233C"/>
                </a:solidFill>
              </a:rPr>
              <a:t>Demo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464040" y="2926080"/>
            <a:ext cx="192024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Retail agent: OpenAPI tool → trace → evaluation → improvement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agents need a different production mindset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 good final sentence does not prove a good agent trajectory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64008" cy="41605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Traditional GenAI 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865376"/>
            <a:ext cx="306324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Prompt → model → response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Primary questions: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Is the answer relevant?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Is it grounded?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Is it safe?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Is latency acceptable?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7408" y="137160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07408" y="1371600"/>
            <a:ext cx="64008" cy="416052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90288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Agentic system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0288" y="1865376"/>
            <a:ext cx="306324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Intent → reasoning → tools → state → actions → response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New failure modes: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Wrong tool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Wrong arguments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Ignored tool output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Excessive calls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• Unsafe action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74736" y="1371600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74736" y="1371600"/>
            <a:ext cx="64008" cy="416052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57616" y="15179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Production question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7616" y="1865376"/>
            <a:ext cx="3063240" cy="3547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We must evaluate both: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1. OUTCOME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Did the task succeed?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2. PROCESS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F6B7A"/>
                </a:solidFill>
              </a:rPr>
              <a:t>Was the path correct, efficient, safe, and grounded?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571500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F6B7A"/>
                </a:solidFill>
              </a:rPr>
              <a:t>Core principle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0" y="596188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Observe the trajectory. Evaluate the trajectory. Improve the trajectory.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1097280"/>
            <a:ext cx="4206240" cy="4206240"/>
          </a:xfrm>
          <a:prstGeom prst="ellipse">
            <a:avLst/>
          </a:prstGeom>
          <a:solidFill>
            <a:srgbClr val="6E42D8">
              <a:alpha val="28000"/>
            </a:srgbClr>
          </a:solidFill>
          <a:ln w="12700">
            <a:solidFill>
              <a:srgbClr val="6E42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3931920"/>
            <a:ext cx="4754880" cy="4754880"/>
          </a:xfrm>
          <a:prstGeom prst="ellipse">
            <a:avLst/>
          </a:prstGeom>
          <a:solidFill>
            <a:srgbClr val="2F6FED">
              <a:alpha val="22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9B8FF"/>
                </a:solidFill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9B8FF"/>
                </a:solidFill>
              </a:rPr>
              <a:t>PART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Build agents in Microsoft Foundry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</a:rPr>
              <a:t>Microsoft Foundry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Foundry as the agent platform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One control plane from model choice to production operations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64008" cy="20116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Models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Model catalog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model deployments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679192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79192" y="1828800"/>
            <a:ext cx="64008" cy="201168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862072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Agent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62072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Prompt agents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Hosted agents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18304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18304" y="1828800"/>
            <a:ext cx="64008" cy="201168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01184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Tools &amp; IQ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01184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Toolboxes · MCP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Foundry IQ · search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757416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FF4E5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757416" y="1828800"/>
            <a:ext cx="64008" cy="2011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0296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Observability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Traces · metrics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Application Insights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796528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796528" y="1828800"/>
            <a:ext cx="64008" cy="2011680"/>
          </a:xfrm>
          <a:prstGeom prst="rec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79408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Evaluation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79408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Agent · quality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safety · custom rubrics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835640" y="1828800"/>
            <a:ext cx="1828800" cy="2011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835640" y="1828800"/>
            <a:ext cx="64008" cy="2011680"/>
          </a:xfrm>
          <a:prstGeom prst="rect">
            <a:avLst/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018520" y="1975104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Governance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018520" y="2322576"/>
            <a:ext cx="1508760" cy="1399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Entra · RBAC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network · policy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554480" y="4343400"/>
            <a:ext cx="9144000" cy="0"/>
          </a:xfrm>
          <a:prstGeom prst="line">
            <a:avLst/>
          </a:prstGeom>
          <a:noFill/>
          <a:ln w="317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166360"/>
            <a:ext cx="1033272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F6B7A"/>
                </a:solidFill>
              </a:rPr>
              <a:t>Foundry Agent Service combines managed runtime, models, tools, identity, publishing, and observability so teams can move from prototype to governed production without stitching every layer themselves.</a:t>
            </a:r>
            <a:endParaRPr 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the right build approach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Start declarative; move to code when orchestration requirements justify it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27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27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</a:rPr>
              <a:t>Approach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971800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</a:rPr>
              <a:t>Who owns orchestration?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760720" y="16276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</a:rPr>
              <a:t>Best fit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72600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</a:rPr>
              <a:t>Control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1892808"/>
            <a:ext cx="1051560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201168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Single model call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71800" y="201168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No agent resource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760720" y="20116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Prompting / inference only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372600" y="201168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Lowest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2715768"/>
            <a:ext cx="1051560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Prompt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971800" y="28346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Instructions + model + tools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760720" y="2834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Managed agent without custom runtime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372600" y="283464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Low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3538728"/>
            <a:ext cx="1051560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6576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Hosted agent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71800" y="36576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Bring your own code/container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760720" y="36576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Custom orchestration, framework, protocols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372600" y="365760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High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" y="4361688"/>
            <a:ext cx="1051560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448056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Workflow (preview)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971800" y="4480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Compose agent + logic nodes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760720" y="44805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Deterministic multi-step business flows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372600" y="448056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Medium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22960" y="5779008"/>
            <a:ext cx="2834640" cy="310896"/>
          </a:xfrm>
          <a:prstGeom prst="roundRect">
            <a:avLst>
              <a:gd name="adj" fmla="val 41176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96112" y="5843016"/>
            <a:ext cx="2688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42D8"/>
                </a:solidFill>
              </a:rPr>
              <a:t>Rule of thumb: prompt agent first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840480" y="5779008"/>
            <a:ext cx="3657600" cy="310896"/>
          </a:xfrm>
          <a:prstGeom prst="roundRect">
            <a:avLst>
              <a:gd name="adj" fmla="val 4117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913632" y="5843016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</a:rPr>
              <a:t>Hosted agent when code is the product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726680" y="5779008"/>
            <a:ext cx="3063240" cy="310896"/>
          </a:xfrm>
          <a:prstGeom prst="roundRect">
            <a:avLst>
              <a:gd name="adj" fmla="val 41176"/>
            </a:avLst>
          </a:prstGeom>
          <a:solidFill>
            <a:srgbClr val="E7F6EF"/>
          </a:solidFill>
          <a:ln w="12700">
            <a:solidFill>
              <a:srgbClr val="E7F6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99832" y="5843016"/>
            <a:ext cx="2916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68A5B"/>
                </a:solidFill>
              </a:rPr>
              <a:t>Workflow for deterministic orchestration</a:t>
            </a:r>
            <a:endParaRPr lang="en-US" sz="95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agents: the fastest managed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Declarative configuration; Foundry owns the runtime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64008" cy="123444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Instructions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819656"/>
            <a:ext cx="19659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Role, policies, constraints, tool-use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3258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54680" y="1325880"/>
            <a:ext cx="64008" cy="12344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3756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Model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819656"/>
            <a:ext cx="19659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Choose a Foundry model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0" y="13258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64008" cy="123444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5216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852160" y="1819656"/>
            <a:ext cx="19659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Built-in tools, custom functions, OpenAPI, MCP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83880" y="132588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83880" y="1325880"/>
            <a:ext cx="64008" cy="1234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66760" y="147218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Knowledge / memory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1819656"/>
            <a:ext cx="19659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Retrieval, project knowledge, memory where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57400" y="3063240"/>
            <a:ext cx="8092440" cy="1188720"/>
          </a:xfrm>
          <a:prstGeom prst="roundRect">
            <a:avLst>
              <a:gd name="adj" fmla="val 6154"/>
            </a:avLst>
          </a:prstGeom>
          <a:solidFill>
            <a:srgbClr val="17233C"/>
          </a:solidFill>
          <a:ln w="12700">
            <a:solidFill>
              <a:srgbClr val="17233C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657600" y="340156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</a:rPr>
              <a:t>FOUNDRY MANAGED AGENT RUNTIME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2286000" y="2633472"/>
            <a:ext cx="0" cy="41148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023360" y="2633472"/>
            <a:ext cx="0" cy="41148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760720" y="2633472"/>
            <a:ext cx="0" cy="41148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98080" y="2633472"/>
            <a:ext cx="0" cy="41148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35440" y="2633472"/>
            <a:ext cx="0" cy="41148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466344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A"/>
                </a:solidFill>
              </a:rPr>
              <a:t>Why it matters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77240" y="4983480"/>
            <a:ext cx="103327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C"/>
                </a:solidFill>
              </a:rPr>
              <a:t>No application runtime to manage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C"/>
                </a:solidFill>
              </a:rPr>
              <a:t>Portal-first for rapid iteration; SDK/REST for repeatable CI/CD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17233C"/>
                </a:solidFill>
              </a:rPr>
              <a:t>Version, test, evaluate, monitor, and publish the same agent definition</a:t>
            </a:r>
            <a:endParaRPr lang="en-US" sz="14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Hosted agents: bring your own code, keep Foundry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For teams that need framework control without giving up managed hosting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749040" cy="425196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233C"/>
                </a:solidFill>
              </a:rPr>
              <a:t>Your agent code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87552" y="2304288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42D8"/>
                </a:solidFill>
              </a:rPr>
              <a:t>Microsoft Agent Framework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14400" y="2724912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2788920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</a:rPr>
              <a:t>LangGraph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3209544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87552" y="3273552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42D8"/>
                </a:solidFill>
              </a:rPr>
              <a:t>Semantic Kernel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14400" y="3694176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3758184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</a:rPr>
              <a:t>OpenAI Agents SDK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14400" y="4178808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F1ECFF"/>
          </a:solidFill>
          <a:ln w="12700">
            <a:solidFill>
              <a:srgbClr val="F1E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87552" y="4242816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E42D8"/>
                </a:solidFill>
              </a:rPr>
              <a:t>Anthropic Agent SDK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4663440"/>
            <a:ext cx="3246120" cy="310896"/>
          </a:xfrm>
          <a:prstGeom prst="roundRect">
            <a:avLst>
              <a:gd name="adj" fmla="val 41176"/>
            </a:avLst>
          </a:prstGeom>
          <a:solidFill>
            <a:srgbClr val="EAF1FF"/>
          </a:solidFill>
          <a:ln w="12700">
            <a:solidFill>
              <a:srgbClr val="EAF1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" y="4727448"/>
            <a:ext cx="3099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ED"/>
                </a:solidFill>
              </a:rPr>
              <a:t>Custom code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26280" y="3520440"/>
            <a:ext cx="1051560" cy="0"/>
          </a:xfrm>
          <a:prstGeom prst="line">
            <a:avLst/>
          </a:prstGeom>
          <a:noFill/>
          <a:ln w="35560">
            <a:solidFill>
              <a:srgbClr val="6E42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669280" y="1417320"/>
            <a:ext cx="5715000" cy="4251960"/>
          </a:xfrm>
          <a:prstGeom prst="roundRect">
            <a:avLst>
              <a:gd name="adj" fmla="val 1720"/>
            </a:avLst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89320" y="1719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Foundry Agent Service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989320" y="233172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3866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2648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Managed endpoint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549640" y="233172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0325B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686800" y="2514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Scaling / lifecycle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5989320" y="329184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3866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Dedicated Entra identity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549640" y="329184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0325B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686800" y="34747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Session state / files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5989320" y="425196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63866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Foundry models &amp; tools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549640" y="4251960"/>
            <a:ext cx="2240280" cy="658368"/>
          </a:xfrm>
          <a:prstGeom prst="roundRect">
            <a:avLst>
              <a:gd name="adj" fmla="val 8333"/>
            </a:avLst>
          </a:prstGeom>
          <a:solidFill>
            <a:srgbClr val="20325B"/>
          </a:solidFill>
          <a:ln w="12700">
            <a:solidFill>
              <a:srgbClr val="3C4D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686800" y="443484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</a:rPr>
              <a:t>Tracing / eval / monitoring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Hosted agents in Foundry Agent Service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and workflow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Not every multi-step problem needs an autonomous multi-agent swarm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B7A"/>
                </a:solidFill>
              </a:rPr>
              <a:t>Use deterministic workflow structure where business control matters; delegate judgment to agents where language/reasoning helps.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64008" cy="14173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2037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User request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551176"/>
            <a:ext cx="1600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0632" y="2770632"/>
            <a:ext cx="502920" cy="0"/>
          </a:xfrm>
          <a:prstGeom prst="line">
            <a:avLst/>
          </a:prstGeom>
          <a:noFill/>
          <a:ln w="2540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4E5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83280" y="2057400"/>
            <a:ext cx="64008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22037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Routing / logic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66160" y="2551176"/>
            <a:ext cx="1600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if / else · for each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2770632"/>
            <a:ext cx="502920" cy="0"/>
          </a:xfrm>
          <a:prstGeom prst="line">
            <a:avLst/>
          </a:prstGeom>
          <a:noFill/>
          <a:ln w="2540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8932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989320" y="2057400"/>
            <a:ext cx="64008" cy="141732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2200" y="22037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Specialist agent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2551176"/>
            <a:ext cx="1600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model + tools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82712" y="2770632"/>
            <a:ext cx="502920" cy="0"/>
          </a:xfrm>
          <a:prstGeom prst="line">
            <a:avLst/>
          </a:prstGeom>
          <a:noFill/>
          <a:ln w="2540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95360" y="20574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595360" y="2057400"/>
            <a:ext cx="64008" cy="14173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778240" y="220370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Business action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78240" y="2551176"/>
            <a:ext cx="16002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API / system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14400" y="40690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4400" y="4069080"/>
            <a:ext cx="64008" cy="132588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215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Use workflow designer when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97280" y="4562856"/>
            <a:ext cx="26060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You need visible sequence, branching, loops, transformations, and agent nodes.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40690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17720" y="4069080"/>
            <a:ext cx="64008" cy="132588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00600" y="4215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Use hosted-agent orchestration when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800600" y="4562856"/>
            <a:ext cx="26060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You need custom state machines, code-based routing, or framework-specific multi-agent patterns.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321040" y="4069080"/>
            <a:ext cx="29260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321040" y="4069080"/>
            <a:ext cx="64008" cy="132588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503920" y="421538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Avoid complexity when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503920" y="4562856"/>
            <a:ext cx="260604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A single prompt agent with the right tools can complete the task reliably.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Build a workflow in Microsoft Foundry (preview); Hosted agents</a:t>
            </a:r>
            <a:endParaRPr lang="en-US" sz="75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Tools, knowledge, memory, and guardrails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Give the agent access to the right capability — not every capability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789920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81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E42D8"/>
                </a:solidFill>
              </a:rPr>
              <a:t>Tools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581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33C"/>
                </a:solidFill>
              </a:rPr>
              <a:t>Actions &amp; structured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23360" y="1581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OpenAPI, functions, MCP, web search, code interpreter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315200" y="1581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Use authoritative systems; least privilege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85800" y="2560320"/>
            <a:ext cx="10789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14400" y="2724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8A5B"/>
                </a:solidFill>
              </a:rPr>
              <a:t>Knowledge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11680" y="2724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33C"/>
                </a:solidFill>
              </a:rPr>
              <a:t>Unstructured enterprise context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0" y="2724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Foundry IQ, search, files, policy documents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315200" y="2724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Ground facts and policies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703320"/>
            <a:ext cx="10789920" cy="868680"/>
          </a:xfrm>
          <a:prstGeom prst="roundRect">
            <a:avLst>
              <a:gd name="adj" fmla="val 5263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F6FED"/>
                </a:solidFill>
              </a:rPr>
              <a:t>Memory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011680" y="3867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33C"/>
                </a:solidFill>
              </a:rPr>
              <a:t>Cross-turn / long-lived context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023360" y="3867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User preferences, session or persistent context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315200" y="3867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Store only what is useful and governed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5800" y="4846320"/>
            <a:ext cx="1078992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010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3C3C"/>
                </a:solidFill>
              </a:rPr>
              <a:t>Guardrails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011680" y="50109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233C"/>
                </a:solidFill>
              </a:rPr>
              <a:t>Boundaries on behavior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23360" y="5010912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Content filters, prompt rules, policy, identity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315200" y="50109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Prevent unsafe or unauthorized outcomes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22960" y="6053328"/>
            <a:ext cx="10241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Production design rule: structured product/inventory data belongs behind tools/APIs; policies, manuals, FAQs and guides belong in retrieval/knowledge.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development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Treat agent configuration like software: version it, test it, promote it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Design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9768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intent + policies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46504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21992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87752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76272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Build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057400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instructions + tools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74136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9624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215384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03904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Test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685032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playground + traces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01768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77256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43016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31536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Evaluate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12664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datasets + evaluators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104888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470648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059168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Publish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40296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version + endpoint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57032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732520" y="1965960"/>
            <a:ext cx="1097280" cy="1097280"/>
          </a:xfrm>
          <a:prstGeom prst="ellipse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098280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Monitor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567928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production telemetry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884664" y="2514600"/>
            <a:ext cx="420624" cy="0"/>
          </a:xfrm>
          <a:prstGeom prst="line">
            <a:avLst/>
          </a:prstGeom>
          <a:noFill/>
          <a:ln w="2159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0360152" y="1965960"/>
            <a:ext cx="1097280" cy="109728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725912" y="22677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314432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Improve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0195560" y="361188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failures → regression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14400" y="4709160"/>
            <a:ext cx="10332720" cy="1051560"/>
          </a:xfrm>
          <a:prstGeom prst="roundRect">
            <a:avLst>
              <a:gd name="adj" fmla="val 5217"/>
            </a:avLst>
          </a:prstGeom>
          <a:solidFill>
            <a:srgbClr val="F1ECFF"/>
          </a:solidFill>
          <a:ln w="12700">
            <a:solidFill>
              <a:srgbClr val="D7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234440" y="4983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33C"/>
                </a:solidFill>
              </a:rPr>
              <a:t>Versioning matters because prompt, model, tool description, and tool set changes are all behavior changes. Compare versions against the same evaluation dataset before promotion.</a:t>
            </a:r>
            <a:endParaRPr lang="en-US" sz="13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1097280"/>
            <a:ext cx="4206240" cy="4206240"/>
          </a:xfrm>
          <a:prstGeom prst="ellipse">
            <a:avLst/>
          </a:prstGeom>
          <a:solidFill>
            <a:srgbClr val="6E42D8">
              <a:alpha val="28000"/>
            </a:srgbClr>
          </a:solidFill>
          <a:ln w="12700">
            <a:solidFill>
              <a:srgbClr val="6E42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3931920"/>
            <a:ext cx="4754880" cy="4754880"/>
          </a:xfrm>
          <a:prstGeom prst="ellipse">
            <a:avLst/>
          </a:prstGeom>
          <a:solidFill>
            <a:srgbClr val="2F6FED">
              <a:alpha val="22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9B8FF"/>
                </a:solidFill>
              </a:rPr>
              <a:t>02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9B8FF"/>
                </a:solidFill>
              </a:rPr>
              <a:t>PART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Observability: see what the agent actually did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</a:rPr>
              <a:t>Microsoft Foundry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Observability in Foundry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Tracing + monitoring + evaluation share the same operational story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64008" cy="329184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C"/>
                </a:solidFill>
              </a:rPr>
              <a:t>Tracing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1911096"/>
            <a:ext cx="29718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Execution flow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LLM calls · tools · dependencies · timing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Why did this run behave this way?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64008" cy="32918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C"/>
                </a:solidFill>
              </a:rPr>
              <a:t>Monitoring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911096"/>
            <a:ext cx="29718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Operational health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tokens · latency · success rate · errors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Is the system healthy in production?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91840" cy="3291840"/>
          </a:xfrm>
          <a:prstGeom prst="roundRect">
            <a:avLst>
              <a:gd name="adj" fmla="val 2222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0" y="1417320"/>
            <a:ext cx="64008" cy="329184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33C"/>
                </a:solidFill>
              </a:rPr>
              <a:t>Evaluation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12480" y="1911096"/>
            <a:ext cx="2971800" cy="2679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Quality &amp; safety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task · tool · response · risk metrics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Was the behavior good enough?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33C"/>
                </a:solidFill>
              </a:rPr>
              <a:t>Foundry integrates observability with Azure Monitor Application Insights and OpenTelemetry semantic conventions.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Tracing: reconstruct the execution path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The trace is the evidence behind an agent answer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User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request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30552" y="2258568"/>
            <a:ext cx="36576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6032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5176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Agent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5176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planning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2258568"/>
            <a:ext cx="36576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3484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Model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reasoning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9592" y="2258568"/>
            <a:ext cx="36576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E7F6EF"/>
          </a:solidFill>
          <a:ln w="12700">
            <a:solidFill>
              <a:srgbClr val="168A5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Tool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search_products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54112" y="2258568"/>
            <a:ext cx="36576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18388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E7F6EF"/>
          </a:solidFill>
          <a:ln w="12700">
            <a:solidFill>
              <a:srgbClr val="168A5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7532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Tool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27532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check_inventory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628632" y="2258568"/>
            <a:ext cx="36576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058400" y="1828800"/>
            <a:ext cx="1417320" cy="868680"/>
          </a:xfrm>
          <a:prstGeom prst="roundRect">
            <a:avLst>
              <a:gd name="adj" fmla="val 7368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49840" y="198424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Model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149840" y="22677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final response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77240" y="3749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77240" y="3749040"/>
            <a:ext cx="64008" cy="141732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960120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Trace answers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0120" y="4242816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Which tool was selected?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What arguments were passed?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What did the tool return?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4434840" y="3749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434840" y="3749040"/>
            <a:ext cx="64008" cy="141732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17720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Performance answers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617720" y="4242816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Where did latency accumulate?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Which dependency failed?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How many model/tool calls occurred?</a:t>
            </a:r>
            <a:endParaRPr lang="en-US" sz="1120" dirty="0"/>
          </a:p>
        </p:txBody>
      </p:sp>
      <p:sp>
        <p:nvSpPr>
          <p:cNvPr id="35" name="Shape 33"/>
          <p:cNvSpPr/>
          <p:nvPr/>
        </p:nvSpPr>
        <p:spPr>
          <a:xfrm>
            <a:off x="8092440" y="37490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092440" y="3749040"/>
            <a:ext cx="64008" cy="141732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275320" y="389534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Production extension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75320" y="4242816"/>
            <a:ext cx="30175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Server-side traces are automatic in portal-hosted agents; client-side OpenTelemetry adds your app code and custom logic.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Set up tracing / Add client-side tracing to Foundry agents</a:t>
            </a:r>
            <a:endParaRPr lang="en-US" sz="7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Monitoring: operate the agent as a service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Application Insights powers the Agent Monitoring Dashboard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89920" cy="658368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17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Token usage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5179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Cost / verbosity signal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5349240" y="151790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Optimize prompts and responses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85800" y="2240280"/>
            <a:ext cx="107899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3865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Latency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88920" y="238658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Responsiveness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5349240" y="238658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Investigate model throttling, network, tools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85800" y="3108960"/>
            <a:ext cx="10789920" cy="658368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25526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Run success 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88920" y="325526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Reliability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5349240" y="325526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Find failed runs and dependencies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85800" y="3977640"/>
            <a:ext cx="107899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1239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Evaluation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88920" y="41239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Quality over traffic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5349240" y="412394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Track sampled quality and safety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85800" y="4846320"/>
            <a:ext cx="10789920" cy="658368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99262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Red-team results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88920" y="499262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Security risk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5349240" y="4992624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Surface adversarial failures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1005840" y="5806440"/>
            <a:ext cx="10012680" cy="512064"/>
          </a:xfrm>
          <a:prstGeom prst="roundRect">
            <a:avLst>
              <a:gd name="adj" fmla="val 8929"/>
            </a:avLst>
          </a:prstGeom>
          <a:solidFill>
            <a:srgbClr val="FFF4E5"/>
          </a:solidFill>
          <a:ln w="12700">
            <a:solidFill>
              <a:srgbClr val="F2C9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280160" y="5971032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60" b="1" dirty="0">
                <a:solidFill>
                  <a:srgbClr val="17233C"/>
                </a:solidFill>
              </a:rPr>
              <a:t>Monitoring settings can drive recurring evaluations, red-team scans, and alerts (some capabilities are preview).</a:t>
            </a:r>
            <a:endParaRPr lang="en-US" sz="11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Triangle 21"/>
          <p:cNvSpPr/>
          <p:nvPr/>
        </p:nvSpPr>
        <p:spPr>
          <a:xfrm rot="18900000">
            <a:off x="1618488" y="2679192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Triangle 20"/>
          <p:cNvSpPr/>
          <p:nvPr/>
        </p:nvSpPr>
        <p:spPr>
          <a:xfrm rot="13500000">
            <a:off x="2743200" y="457200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Triangle 19"/>
          <p:cNvSpPr/>
          <p:nvPr/>
        </p:nvSpPr>
        <p:spPr>
          <a:xfrm rot="13500000">
            <a:off x="5166360" y="457200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Triangle 18"/>
          <p:cNvSpPr/>
          <p:nvPr/>
        </p:nvSpPr>
        <p:spPr>
          <a:xfrm rot="13500000">
            <a:off x="7452360" y="457200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ight Triangle 17"/>
          <p:cNvSpPr/>
          <p:nvPr/>
        </p:nvSpPr>
        <p:spPr>
          <a:xfrm rot="8100000">
            <a:off x="8659368" y="4041648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ight Triangle 16"/>
          <p:cNvSpPr/>
          <p:nvPr/>
        </p:nvSpPr>
        <p:spPr>
          <a:xfrm rot="2700000">
            <a:off x="7626096" y="210312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ight Triangle 15"/>
          <p:cNvSpPr/>
          <p:nvPr/>
        </p:nvSpPr>
        <p:spPr>
          <a:xfrm rot="2700000">
            <a:off x="5340096" y="210312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Triangle 14"/>
          <p:cNvSpPr/>
          <p:nvPr/>
        </p:nvSpPr>
        <p:spPr>
          <a:xfrm rot="2700000">
            <a:off x="2871216" y="2103120"/>
            <a:ext cx="137160" cy="137160"/>
          </a:xfrm>
          <a:prstGeom prst="rtTriangle">
            <a:avLst/>
          </a:prstGeom>
          <a:solidFill>
            <a:srgbClr val="1B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" name="Connector 13"/>
          <p:cNvCxnSpPr/>
          <p:nvPr/>
        </p:nvCxnSpPr>
        <p:spPr>
          <a:xfrm flipV="1">
            <a:off x="1691640" y="2651760"/>
            <a:ext cx="0" cy="150876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2697480" y="4636008"/>
            <a:ext cx="274320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5120640" y="4636008"/>
            <a:ext cx="320040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7406640" y="4636008"/>
            <a:ext cx="320039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2651760"/>
            <a:ext cx="0" cy="150876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06640" y="2167128"/>
            <a:ext cx="320039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120640" y="2167128"/>
            <a:ext cx="320040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697480" y="2167128"/>
            <a:ext cx="274320" cy="0"/>
          </a:xfrm>
          <a:prstGeom prst="line">
            <a:avLst/>
          </a:prstGeom>
          <a:ln w="25400">
            <a:solidFill>
              <a:srgbClr val="1B26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48640" y="292608"/>
            <a:ext cx="777240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2800" b="1">
                <a:solidFill>
                  <a:srgbClr val="142038"/>
                </a:solidFill>
                <a:latin typeface="Aptos Display"/>
              </a:defRPr>
            </a:pPr>
            <a:r>
              <a:t>Production feedback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77240"/>
            <a:ext cx="950976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300" b="0">
                <a:solidFill>
                  <a:srgbClr val="5B6778"/>
                </a:solidFill>
                <a:latin typeface="Aptos Display"/>
              </a:defRPr>
            </a:pPr>
            <a:r>
              <a:t>Turn traces and evaluation results into the next release, not just a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325880"/>
            <a:ext cx="237744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100" b="1">
                <a:solidFill>
                  <a:srgbClr val="703FD6"/>
                </a:solidFill>
                <a:latin typeface="Aptos Display"/>
              </a:defRPr>
            </a:pPr>
            <a:r>
              <a:t>PRE-PRODUCTION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794760"/>
            <a:ext cx="210312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1100" b="1">
                <a:solidFill>
                  <a:srgbClr val="14915C"/>
                </a:solidFill>
                <a:latin typeface="Aptos Display"/>
              </a:defRPr>
            </a:pPr>
            <a:r>
              <a:t>PRODUCTION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" y="1737360"/>
            <a:ext cx="201168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5800" y="1691640"/>
            <a:ext cx="201168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03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1874520"/>
            <a:ext cx="310896" cy="310896"/>
          </a:xfrm>
          <a:prstGeom prst="ellipse">
            <a:avLst/>
          </a:prstGeom>
          <a:solidFill>
            <a:srgbClr val="703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52728" y="1819656"/>
            <a:ext cx="1325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Change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2728" y="2139696"/>
            <a:ext cx="132588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Prompt, model, tools, policies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08376" y="1737360"/>
            <a:ext cx="214884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2971800" y="1691640"/>
            <a:ext cx="214884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6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36392" y="1874520"/>
            <a:ext cx="310896" cy="310896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38728" y="1819656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Evaluate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38728" y="2139696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Golden datasets + simulated users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77256" y="1737360"/>
            <a:ext cx="196596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5440680" y="1691640"/>
            <a:ext cx="196596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605272" y="1874520"/>
            <a:ext cx="310896" cy="310896"/>
          </a:xfrm>
          <a:prstGeom prst="ellipse">
            <a:avLst/>
          </a:prstGeom>
          <a:solidFill>
            <a:srgbClr val="14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007608" y="1819656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7608" y="2139696"/>
            <a:ext cx="128016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Quality thresholds before release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63255" y="1737360"/>
            <a:ext cx="201168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726679" y="1691640"/>
            <a:ext cx="201168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703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7891271" y="1874520"/>
            <a:ext cx="310896" cy="310896"/>
          </a:xfrm>
          <a:prstGeom prst="ellipse">
            <a:avLst/>
          </a:prstGeom>
          <a:solidFill>
            <a:srgbClr val="703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93607" y="1819656"/>
            <a:ext cx="1325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93607" y="2139696"/>
            <a:ext cx="132588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Published agent version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63255" y="4206240"/>
            <a:ext cx="201168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7726679" y="4160520"/>
            <a:ext cx="201168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6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891271" y="4343400"/>
            <a:ext cx="310896" cy="310896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93607" y="4288536"/>
            <a:ext cx="1325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Observe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93607" y="4608576"/>
            <a:ext cx="132588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Traces, metrics, failures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77256" y="4206240"/>
            <a:ext cx="196596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440680" y="4160520"/>
            <a:ext cx="196596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4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5605272" y="4343400"/>
            <a:ext cx="310896" cy="310896"/>
          </a:xfrm>
          <a:prstGeom prst="ellipse">
            <a:avLst/>
          </a:prstGeom>
          <a:solidFill>
            <a:srgbClr val="14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07608" y="4288536"/>
            <a:ext cx="12801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Score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7608" y="4608576"/>
            <a:ext cx="128016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Continuous / scheduled evals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008376" y="4206240"/>
            <a:ext cx="214884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2971800" y="4160520"/>
            <a:ext cx="214884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E07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3136392" y="4343400"/>
            <a:ext cx="310896" cy="310896"/>
          </a:xfrm>
          <a:prstGeom prst="ellipse">
            <a:avLst/>
          </a:prstGeom>
          <a:solidFill>
            <a:srgbClr val="E07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538728" y="4288536"/>
            <a:ext cx="14630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Curate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38728" y="4608576"/>
            <a:ext cx="146304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Failed traces → dataset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2376" y="4206240"/>
            <a:ext cx="2011680" cy="960120"/>
          </a:xfrm>
          <a:prstGeom prst="roundRect">
            <a:avLst/>
          </a:prstGeom>
          <a:solidFill>
            <a:srgbClr val="E2E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85800" y="4160520"/>
            <a:ext cx="201168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D34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850392" y="4343400"/>
            <a:ext cx="310896" cy="310896"/>
          </a:xfrm>
          <a:prstGeom prst="ellipse">
            <a:avLst/>
          </a:prstGeom>
          <a:solidFill>
            <a:srgbClr val="CD3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252728" y="4288536"/>
            <a:ext cx="13258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42038"/>
                </a:solidFill>
                <a:latin typeface="Aptos Display"/>
              </a:defRPr>
            </a:pPr>
            <a:r>
              <a:t>Regression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52728" y="4608576"/>
            <a:ext cx="1325880" cy="429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19">
                <a:solidFill>
                  <a:srgbClr val="5B6778"/>
                </a:solidFill>
                <a:latin typeface="Aptos"/>
              </a:defRPr>
            </a:pPr>
            <a:r>
              <a:t>Same test suite every release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743200" y="2907792"/>
            <a:ext cx="4937760" cy="658368"/>
          </a:xfrm>
          <a:prstGeom prst="roundRect">
            <a:avLst/>
          </a:prstGeom>
          <a:solidFill>
            <a:srgbClr val="EBF1FF"/>
          </a:solidFill>
          <a:ln w="12700">
            <a:solidFill>
              <a:srgbClr val="BFD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2907792" y="3017520"/>
            <a:ext cx="461772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500" b="1">
                <a:solidFill>
                  <a:srgbClr val="142038"/>
                </a:solidFill>
                <a:latin typeface="Aptos Display"/>
              </a:defRPr>
            </a:pPr>
            <a:r>
              <a:t>Every production failure becomes a reusable regression case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012680" y="1691640"/>
            <a:ext cx="150876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10168128" y="1874519"/>
            <a:ext cx="1207008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142038"/>
                </a:solidFill>
                <a:latin typeface="Aptos Display"/>
              </a:defRPr>
            </a:pPr>
            <a:r>
              <a:t>Foundry view</a:t>
            </a:r>
          </a:p>
        </p:txBody>
      </p:sp>
      <p:sp>
        <p:nvSpPr>
          <p:cNvPr id="67" name="Oval 66"/>
          <p:cNvSpPr/>
          <p:nvPr/>
        </p:nvSpPr>
        <p:spPr>
          <a:xfrm>
            <a:off x="10186416" y="2359151"/>
            <a:ext cx="91440" cy="91440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351008" y="2295144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>
                <a:solidFill>
                  <a:srgbClr val="5B6778"/>
                </a:solidFill>
                <a:latin typeface="Aptos"/>
              </a:defRPr>
            </a:pPr>
            <a:r>
              <a:t>Traces</a:t>
            </a:r>
          </a:p>
        </p:txBody>
      </p:sp>
      <p:sp>
        <p:nvSpPr>
          <p:cNvPr id="69" name="Oval 68"/>
          <p:cNvSpPr/>
          <p:nvPr/>
        </p:nvSpPr>
        <p:spPr>
          <a:xfrm>
            <a:off x="10186416" y="2770632"/>
            <a:ext cx="91440" cy="91440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351008" y="2706624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>
                <a:solidFill>
                  <a:srgbClr val="5B6778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71" name="Oval 70"/>
          <p:cNvSpPr/>
          <p:nvPr/>
        </p:nvSpPr>
        <p:spPr>
          <a:xfrm>
            <a:off x="10186416" y="3182111"/>
            <a:ext cx="91440" cy="91440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351008" y="3118103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>
                <a:solidFill>
                  <a:srgbClr val="5B6778"/>
                </a:solidFill>
                <a:latin typeface="Aptos"/>
              </a:defRPr>
            </a:pPr>
            <a:r>
              <a:t>Evaluations</a:t>
            </a:r>
          </a:p>
        </p:txBody>
      </p:sp>
      <p:sp>
        <p:nvSpPr>
          <p:cNvPr id="73" name="Oval 72"/>
          <p:cNvSpPr/>
          <p:nvPr/>
        </p:nvSpPr>
        <p:spPr>
          <a:xfrm>
            <a:off x="10186416" y="3593591"/>
            <a:ext cx="91440" cy="91440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351008" y="3529584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>
                <a:solidFill>
                  <a:srgbClr val="5B6778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75" name="Oval 74"/>
          <p:cNvSpPr/>
          <p:nvPr/>
        </p:nvSpPr>
        <p:spPr>
          <a:xfrm>
            <a:off x="10186416" y="4005072"/>
            <a:ext cx="91440" cy="91440"/>
          </a:xfrm>
          <a:prstGeom prst="ellipse">
            <a:avLst/>
          </a:prstGeom>
          <a:solidFill>
            <a:srgbClr val="2E6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51008" y="3941063"/>
            <a:ext cx="100584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80">
                <a:solidFill>
                  <a:srgbClr val="5B6778"/>
                </a:solidFill>
                <a:latin typeface="Aptos"/>
              </a:defRPr>
            </a:pPr>
            <a:r>
              <a:t>Compare runs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66928" y="6382512"/>
            <a:ext cx="89611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defRPr sz="750" b="0">
                <a:solidFill>
                  <a:srgbClr val="5B6778"/>
                </a:solidFill>
                <a:latin typeface="Aptos Display"/>
              </a:defRPr>
            </a:pPr>
            <a:r>
              <a:t>Source: Microsoft Learn — Foundry observability, evaluation, traces-to-dataset, monitor dashboard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384280" y="6382512"/>
            <a:ext cx="274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750" b="0">
                <a:solidFill>
                  <a:srgbClr val="5B6778"/>
                </a:solidFill>
                <a:latin typeface="Aptos Display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1097280"/>
            <a:ext cx="4206240" cy="4206240"/>
          </a:xfrm>
          <a:prstGeom prst="ellipse">
            <a:avLst/>
          </a:prstGeom>
          <a:solidFill>
            <a:srgbClr val="6E42D8">
              <a:alpha val="28000"/>
            </a:srgbClr>
          </a:solidFill>
          <a:ln w="12700">
            <a:solidFill>
              <a:srgbClr val="6E42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3931920"/>
            <a:ext cx="4754880" cy="4754880"/>
          </a:xfrm>
          <a:prstGeom prst="ellipse">
            <a:avLst/>
          </a:prstGeom>
          <a:solidFill>
            <a:srgbClr val="2F6FED">
              <a:alpha val="22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9B8FF"/>
                </a:solidFill>
              </a:rPr>
              <a:t>03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9B8FF"/>
                </a:solidFill>
              </a:rPr>
              <a:t>PART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Evaluation: measure outcome, process, quality, and safety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</a:rPr>
              <a:t>Microsoft Foundry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in Foundry: four lenses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No single metric can certify an agent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182880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63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System / outcome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11096"/>
            <a:ext cx="4937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Did the agent accomplish the task?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Task Completion · Task Adherence · Intent Resolution · Customer Satisfaction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64008" cy="182880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563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Process / tools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0" y="1911096"/>
            <a:ext cx="4937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Did it take the right path?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Tool Selection · Input Accuracy · Output Utilization · Call Success · Call Accuracy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85800" y="3703320"/>
            <a:ext cx="64008" cy="182880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849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Response quality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197096"/>
            <a:ext cx="4937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Is the answer useful and grounded?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Relevance · Groundedness · Coherence · Fluency · Quality Grader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217920" y="3703320"/>
            <a:ext cx="5257800" cy="1828800"/>
          </a:xfrm>
          <a:prstGeom prst="roundRect">
            <a:avLst>
              <a:gd name="adj" fmla="val 4000"/>
            </a:avLst>
          </a:prstGeom>
          <a:solidFill>
            <a:srgbClr val="FDECEC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3703320"/>
            <a:ext cx="64008" cy="1828800"/>
          </a:xfrm>
          <a:prstGeom prst="rec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3849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3C"/>
                </a:solidFill>
              </a:rPr>
              <a:t>Safety / risk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197096"/>
            <a:ext cx="493776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Is behavior safe and policy-aligned?</a:t>
            </a:r>
            <a:endParaRPr lang="en-US" sz="1120" dirty="0"/>
          </a:p>
          <a:p>
            <a:pPr marL="0" indent="0">
              <a:buNone/>
            </a:pP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5F6B7A"/>
                </a:solidFill>
              </a:rPr>
              <a:t>Violence · Self-harm · Hate/unfairness · Indirect attack · custom rubrics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Agent evaluators / Run evaluations from the Foundry portal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evaluators: did the agent achieve the goal?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Outcome metrics judge the whole task, not just the language quality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64008" cy="1170432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472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Task Completion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1819656"/>
            <a:ext cx="475488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Was a usable deliverable produced that satisfies the user’s requirements?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0" y="1325880"/>
            <a:ext cx="64008" cy="1170432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0" y="147218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Task Adherence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819656"/>
            <a:ext cx="475488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Did the agent follow instructions, policies, and explicit constraints?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64008" cy="1170432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29809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Intent Resolution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3328416"/>
            <a:ext cx="475488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Did the agent correctly identify and address what the user wanted?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2834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17920" y="2834640"/>
            <a:ext cx="64008" cy="1170432"/>
          </a:xfrm>
          <a:prstGeom prst="rec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0" y="298094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Customer Satisfaction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3328416"/>
            <a:ext cx="475488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Was the interaction helpful, clear, complete, and resolving?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FF4E5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31520" y="4343400"/>
            <a:ext cx="64008" cy="11704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4897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Task Navigation Efficiency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4400" y="4837176"/>
            <a:ext cx="4754880" cy="5577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Did the agent reach the result through an efficient trajectory?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1920240" y="5806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33C"/>
                </a:solidFill>
              </a:rPr>
              <a:t>Useful distinction: a run can be policy-compliant yet still fail Task Completion.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evaluators: did the agent use tools correctly?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Tool use should be inspected as a sequence of decisions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04088" y="2148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33C"/>
                </a:solidFill>
              </a:rPr>
              <a:t>Tool Selection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704088" y="2697480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</a:rPr>
              <a:t>Right tool?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96312" y="2587752"/>
            <a:ext cx="32004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880360" y="187452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0088" y="2148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33C"/>
                </a:solidFill>
              </a:rPr>
              <a:t>Tool Input Accuracy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2990088" y="2697480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</a:rPr>
              <a:t>Right arguments?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82312" y="2587752"/>
            <a:ext cx="32004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166360" y="187452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76088" y="2148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33C"/>
                </a:solidFill>
              </a:rPr>
              <a:t>Tool Call Success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5276088" y="2697480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</a:rPr>
              <a:t>Did execution succeed?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068312" y="2587752"/>
            <a:ext cx="32004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452360" y="187452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562088" y="2148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33C"/>
                </a:solidFill>
              </a:rPr>
              <a:t>Tool Output Utilization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7562088" y="2697480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</a:rPr>
              <a:t>Did response use result correctly?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54312" y="2587752"/>
            <a:ext cx="320040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738360" y="1874520"/>
            <a:ext cx="1874520" cy="1417320"/>
          </a:xfrm>
          <a:prstGeom prst="roundRect">
            <a:avLst>
              <a:gd name="adj" fmla="val 4516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48088" y="214884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17233C"/>
                </a:solidFill>
              </a:rPr>
              <a:t>Tool Call Accuracy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9848088" y="2697480"/>
            <a:ext cx="1655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F6B7A"/>
                </a:solidFill>
              </a:rPr>
              <a:t>Overall tool-use accuracy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14400" y="4160520"/>
            <a:ext cx="10149840" cy="1188720"/>
          </a:xfrm>
          <a:prstGeom prst="roundRect">
            <a:avLst>
              <a:gd name="adj" fmla="val 4615"/>
            </a:avLst>
          </a:prstGeom>
          <a:solidFill>
            <a:srgbClr val="EEF2F7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234440" y="44165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63C3C"/>
                </a:solidFill>
              </a:rPr>
              <a:t>Example failure: check_inventory returns available=false, but the final answer says “Yes, it is in stock.”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011680" y="48280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7233C"/>
                </a:solidFill>
              </a:rPr>
              <a:t>The API call succeeded — but Tool Output Utilization failed.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Agent evaluators</a:t>
            </a:r>
            <a:endParaRPr lang="en-US" sz="75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Quality, safety, and custom rubrics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Built-ins give broad coverage; rubrics encode your business definition of “good”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40690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64008" cy="406908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Quality evaluators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11096"/>
            <a:ext cx="301752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Relevance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Groundedness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Coherence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Fluency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Quality Grader</a:t>
            </a:r>
            <a:endParaRPr lang="en-US" sz="1230" dirty="0"/>
          </a:p>
          <a:p>
            <a:pPr marL="0" indent="0">
              <a:buNone/>
            </a:pP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Use when you care about answer usefulness, factual support, readability, and completeness.</a:t>
            </a:r>
            <a:endParaRPr lang="en-US" sz="123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337560" cy="40690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64008" cy="4069080"/>
          </a:xfrm>
          <a:prstGeom prst="rect">
            <a:avLst/>
          </a:prstGeom>
          <a:solidFill>
            <a:srgbClr val="C63C3C"/>
          </a:solidFill>
          <a:ln w="12700">
            <a:solidFill>
              <a:srgbClr val="C63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17720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Safety evaluators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1911096"/>
            <a:ext cx="301752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Violence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Self-harm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Sexual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Hate &amp; unfairness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Indirect attack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Protected material</a:t>
            </a:r>
            <a:endParaRPr lang="en-US" sz="1230" dirty="0"/>
          </a:p>
          <a:p>
            <a:pPr marL="0" indent="0">
              <a:buNone/>
            </a:pPr>
            <a:r>
              <a:rPr lang="en-US" sz="1230" dirty="0">
                <a:solidFill>
                  <a:srgbClr val="5F6B7A"/>
                </a:solidFill>
              </a:rPr>
              <a:t>Code vulnerability</a:t>
            </a:r>
            <a:endParaRPr lang="en-US" sz="123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337560" cy="4069080"/>
          </a:xfrm>
          <a:prstGeom prst="roundRect">
            <a:avLst>
              <a:gd name="adj" fmla="val 2192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64008" cy="406908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156362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33C"/>
                </a:solidFill>
              </a:rPr>
              <a:t>Rubric evaluator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66760" y="1911096"/>
            <a:ext cx="3017520" cy="3456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Define weighted criteria specific to your agent:</a:t>
            </a:r>
            <a:endParaRPr lang="en-US" sz="1180" dirty="0"/>
          </a:p>
          <a:p>
            <a:pPr marL="0" indent="0">
              <a:buNone/>
            </a:pP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• Inventory claims must be verified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• Never fabricate discounts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• Never relax budget silently</a:t>
            </a:r>
            <a:endParaRPr lang="en-US" sz="1180" dirty="0"/>
          </a:p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• Prefer enterprise tool over web search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914400" y="5742432"/>
            <a:ext cx="10287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Current Microsoft guidance recommends a rubric evaluator as a primary measure for agent-specific behavior, layered with built-in evaluators.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291072"/>
            <a:ext cx="10927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A8595"/>
                </a:solidFill>
              </a:rPr>
              <a:t>Source: Microsoft Learn — Evaluate your AI agents (updated Aug 31, 2026)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Choose target, scope, and data source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Foundry supports different evaluation modes for different questions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10927080" cy="4434840"/>
          </a:xfrm>
          <a:prstGeom prst="roundRect">
            <a:avLst>
              <a:gd name="adj" fmla="val 123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00200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Target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743200" y="1600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Scope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4892040" y="16002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Data source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7452360" y="16002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5F6B7A"/>
                </a:solidFill>
              </a:rPr>
              <a:t>Best for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19933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Agent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2743200" y="199339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Full conversations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4892040" y="19933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Simulated data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452360" y="1993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Pre-deployment end-to-end behavior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" y="2496312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569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Agent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2743200" y="25694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Full conversations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892040" y="25694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Existing conversations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7452360" y="25694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Production conversation quality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822960" y="3072384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8680" y="314553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Agent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2743200" y="314553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Individual turns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892040" y="3145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Existing dataset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7452360" y="314553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Fine-grained debugging and tool testing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822960" y="3648456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68680" y="372160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Agent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2743200" y="37216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Individual turns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4892040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Existing traces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7452360" y="372160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Historical interaction evaluation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2960" y="4224528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68680" y="4297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Dataset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274320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Individual turns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4892040" y="42976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Preexisting outputs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452360" y="4297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Score outputs without re-running agent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822960" y="4800600"/>
            <a:ext cx="10424160" cy="0"/>
          </a:xfrm>
          <a:prstGeom prst="line">
            <a:avLst/>
          </a:prstGeom>
          <a:noFill/>
          <a:ln w="12700">
            <a:solidFill>
              <a:srgbClr val="E7EB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68680" y="4873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17233C"/>
                </a:solidFill>
              </a:rPr>
              <a:t>Model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2743200" y="4873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Individual turns</a:t>
            </a:r>
            <a:endParaRPr lang="en-US" sz="1080" dirty="0"/>
          </a:p>
        </p:txBody>
      </p:sp>
      <p:sp>
        <p:nvSpPr>
          <p:cNvPr id="37" name="Text 35"/>
          <p:cNvSpPr/>
          <p:nvPr/>
        </p:nvSpPr>
        <p:spPr>
          <a:xfrm>
            <a:off x="4892040" y="4873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Dataset / synthetic</a:t>
            </a:r>
            <a:endParaRPr lang="en-US" sz="1080" dirty="0"/>
          </a:p>
        </p:txBody>
      </p:sp>
      <p:sp>
        <p:nvSpPr>
          <p:cNvPr id="38" name="Text 36"/>
          <p:cNvSpPr/>
          <p:nvPr/>
        </p:nvSpPr>
        <p:spPr>
          <a:xfrm>
            <a:off x="7452360" y="487375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Model-level benchmark or Q&amp;A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1005840" y="59618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6E42D8"/>
                </a:solidFill>
              </a:rPr>
              <a:t>Microsoft tip: start with Agent → Full conversations → Simulated data for controlled predeployment testing.</a:t>
            </a:r>
            <a:endParaRPr lang="en-US" sz="123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Evaluation-driven agent development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Move from “prompt engineering” to measurable behavior engineering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Baseline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Prompt V1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075688" y="2468880"/>
            <a:ext cx="347472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96312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Evaluate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87752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same dataset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3977640" y="2468880"/>
            <a:ext cx="347472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398264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89704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Inspect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9704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failed rows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879592" y="2468880"/>
            <a:ext cx="347472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0216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91656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Change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91656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prompt / tool / model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7781544" y="2468880"/>
            <a:ext cx="347472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02168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F1ECFF"/>
          </a:solidFill>
          <a:ln w="12700">
            <a:solidFill>
              <a:srgbClr val="6E42D8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93608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Re-run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93608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same evaluator set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9683496" y="2468880"/>
            <a:ext cx="347472" cy="0"/>
          </a:xfrm>
          <a:prstGeom prst="line">
            <a:avLst/>
          </a:prstGeom>
          <a:noFill/>
          <a:ln w="1905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0104120" y="1828800"/>
            <a:ext cx="146304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2700">
            <a:solidFill>
              <a:srgbClr val="2F6FED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0195560" y="208483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Compare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95560" y="253288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dirty="0">
                <a:solidFill>
                  <a:srgbClr val="5F6B7A"/>
                </a:solidFill>
              </a:rPr>
              <a:t>versions / score deltas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914400" y="388620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14400" y="3886200"/>
            <a:ext cx="64008" cy="150876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97280" y="4032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What changes can be evaluated?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4379976"/>
            <a:ext cx="44805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</a:rPr>
              <a:t>Instructions · model · tool descriptions · tool set · retrieval configuration · policies · workflow shape</a:t>
            </a:r>
            <a:endParaRPr lang="en-US" sz="1160" dirty="0"/>
          </a:p>
        </p:txBody>
      </p:sp>
      <p:sp>
        <p:nvSpPr>
          <p:cNvPr id="31" name="Shape 29"/>
          <p:cNvSpPr/>
          <p:nvPr/>
        </p:nvSpPr>
        <p:spPr>
          <a:xfrm>
            <a:off x="6492240" y="3886200"/>
            <a:ext cx="48006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492240" y="3886200"/>
            <a:ext cx="64008" cy="150876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75120" y="4032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What becomes a release gate?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4379976"/>
            <a:ext cx="44805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</a:rPr>
              <a:t>Critical policy failures = 0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</a:rPr>
              <a:t>Tool accuracy above target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</a:rPr>
              <a:t>Task completion above threshold</a:t>
            </a:r>
            <a:endParaRPr lang="en-US" sz="1160" dirty="0"/>
          </a:p>
          <a:p>
            <a:pPr marL="0" indent="0">
              <a:buNone/>
            </a:pPr>
            <a:r>
              <a:rPr lang="en-US" sz="1160" dirty="0">
                <a:solidFill>
                  <a:srgbClr val="5F6B7A"/>
                </a:solidFill>
              </a:rPr>
              <a:t>Latency/cost within SLO</a:t>
            </a:r>
            <a:endParaRPr lang="en-US" sz="1160" dirty="0"/>
          </a:p>
        </p:txBody>
      </p:sp>
      <p:sp>
        <p:nvSpPr>
          <p:cNvPr id="35" name="Text 33"/>
          <p:cNvSpPr/>
          <p:nvPr/>
        </p:nvSpPr>
        <p:spPr>
          <a:xfrm>
            <a:off x="1417320" y="5806440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233C"/>
                </a:solidFill>
              </a:rPr>
              <a:t>The point is not to maximize every score — it is to define acceptable behavior for your use case.</a:t>
            </a:r>
            <a:endParaRPr lang="en-US" sz="13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E17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-1097280"/>
            <a:ext cx="4206240" cy="4206240"/>
          </a:xfrm>
          <a:prstGeom prst="ellipse">
            <a:avLst/>
          </a:prstGeom>
          <a:solidFill>
            <a:srgbClr val="6E42D8">
              <a:alpha val="28000"/>
            </a:srgbClr>
          </a:solidFill>
          <a:ln w="12700">
            <a:solidFill>
              <a:srgbClr val="6E42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863840" y="3931920"/>
            <a:ext cx="4754880" cy="4754880"/>
          </a:xfrm>
          <a:prstGeom prst="ellipse">
            <a:avLst/>
          </a:prstGeom>
          <a:solidFill>
            <a:srgbClr val="2F6FED">
              <a:alpha val="22000"/>
            </a:srgbClr>
          </a:solidFill>
          <a:ln w="12700">
            <a:solidFill>
              <a:srgbClr val="2F6FE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93268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9B8FF"/>
                </a:solidFill>
              </a:rPr>
              <a:t>04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85800" y="1591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A9B8FF"/>
                </a:solidFill>
              </a:rPr>
              <a:t>PART 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9509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Demo: retail shopping agent in Foundry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6126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7D0E0"/>
                </a:solidFill>
              </a:rPr>
              <a:t>Microsoft Foundry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architecture: enterprise retail shopping assistant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 small use case that exposes the full agent lifecycle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1920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64008" cy="12344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665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Customer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414016"/>
            <a:ext cx="160020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“Show me black running shoes under $120.”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542032"/>
            <a:ext cx="960120" cy="0"/>
          </a:xfrm>
          <a:prstGeom prst="line">
            <a:avLst/>
          </a:prstGeom>
          <a:noFill/>
          <a:ln w="2921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2057400" cy="1965960"/>
          </a:xfrm>
          <a:prstGeom prst="roundRect">
            <a:avLst>
              <a:gd name="adj" fmla="val 3721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49040" y="1554480"/>
            <a:ext cx="64008" cy="196596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931920" y="17007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Shopping-Assistant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2048256"/>
            <a:ext cx="173736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Prompt agent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GPT model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Retail policies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Tool-use rules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897880" y="2542032"/>
            <a:ext cx="914400" cy="0"/>
          </a:xfrm>
          <a:prstGeom prst="line">
            <a:avLst/>
          </a:prstGeom>
          <a:noFill/>
          <a:ln w="29210">
            <a:solidFill>
              <a:srgbClr val="17233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03720" y="11430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903720" y="1143000"/>
            <a:ext cx="64008" cy="123444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86600" y="1289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search_products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1636776"/>
            <a:ext cx="1554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OpenAPI tool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274320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2743200"/>
            <a:ext cx="64008" cy="123444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086600" y="28895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check_inventory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86600" y="3236976"/>
            <a:ext cx="1554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OpenAPI tool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89720" y="1920240"/>
            <a:ext cx="1874520" cy="1234440"/>
          </a:xfrm>
          <a:prstGeom prst="roundRect">
            <a:avLst>
              <a:gd name="adj" fmla="val 5926"/>
            </a:avLst>
          </a:prstGeom>
          <a:solidFill>
            <a:srgbClr val="E7F6E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89720" y="1920240"/>
            <a:ext cx="64008" cy="123444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372600" y="20665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get_promotions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2414016"/>
            <a:ext cx="15544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F6B7A"/>
                </a:solidFill>
              </a:rPr>
              <a:t>OpenAPI tool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37960" y="4343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5F6B7A"/>
                </a:solidFill>
              </a:rPr>
              <a:t>Synthetic backend: product catalog + inventory + promotions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1051560" y="4983480"/>
            <a:ext cx="10012680" cy="758952"/>
          </a:xfrm>
          <a:prstGeom prst="roundRect">
            <a:avLst>
              <a:gd name="adj" fmla="val 7229"/>
            </a:avLst>
          </a:prstGeom>
          <a:solidFill>
            <a:srgbClr val="EEF2F7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417320" y="5230368"/>
            <a:ext cx="9281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7233C"/>
                </a:solidFill>
              </a:rPr>
              <a:t>What the demo proves: build → tool call → trace → evaluate → inspect failure → improve prompt/version</a:t>
            </a:r>
            <a:endParaRPr lang="en-US" sz="135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1 — Build &amp; test the prompt agent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Keep the live build short; focus on the platform concepts</a:t>
            </a:r>
            <a:endParaRPr lang="en-US" sz="1150" dirty="0"/>
          </a:p>
        </p:txBody>
      </p:sp>
      <p:pic>
        <p:nvPicPr>
          <p:cNvPr id="4" name="Image 0" descr="/mnt/data/afcaf0fc-c63f-44d2-8f17-f77d98e2e2b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103403"/>
            <a:ext cx="5486400" cy="275177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32588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" y="1325880"/>
            <a:ext cx="64008" cy="105156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22960" y="147218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1. Agent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22960" y="1819656"/>
            <a:ext cx="4480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Prompt agent with retail instructions and a published version.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40080" y="260604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" y="2606040"/>
            <a:ext cx="64008" cy="105156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75234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2. Tool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2960" y="3099816"/>
            <a:ext cx="4480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Attach custom OpenAPI retail tool using a connection.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4800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0080" y="3886200"/>
            <a:ext cx="64008" cy="10515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22960" y="40325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3. Test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22960" y="4379976"/>
            <a:ext cx="44805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Use a realistic prompt: “Show me black running shoes under $120.”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777240" y="53492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7233C"/>
                </a:solidFill>
              </a:rPr>
              <a:t>Talking point: a prompt agent is declarative, versioned, and can be evaluated as a first-class Foundry asset.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2 — Observe the run before scoring 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Trace first: prove which tools were actually used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0972800" cy="1051560"/>
          </a:xfrm>
          <a:prstGeom prst="roundRect">
            <a:avLst>
              <a:gd name="adj" fmla="val 4348"/>
            </a:avLst>
          </a:prstGeom>
          <a:solidFill>
            <a:srgbClr val="F1ECFF"/>
          </a:solidFill>
          <a:ln w="12700">
            <a:solidFill>
              <a:srgbClr val="D8C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190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33C"/>
                </a:solidFill>
              </a:rPr>
              <a:t>Prompt → model → search_products → candidate results → check_inventory → final answer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" y="27432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743200"/>
            <a:ext cx="64008" cy="105156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Tool selection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3236976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Did it choose the retail API instead of web search?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63640" y="274320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2743200"/>
            <a:ext cx="64008" cy="105156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28895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Inputs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46520" y="3236976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Were color=black and max_price=120 passed correctly?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77240" y="41605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64008" cy="105156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4306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Outputs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60120" y="4654296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Did the answer reflect actual product/inventory data?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263640" y="41605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64008" cy="1051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46520" y="43068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Latency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46520" y="4654296"/>
            <a:ext cx="47548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Which model/tool step dominated response time?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914400" y="580644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7233C"/>
                </a:solidFill>
              </a:rPr>
              <a:t>Then open Monitor to connect the same agent behavior to tokens, latency, run success, evaluation metrics, and alerts.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3 — Run a focused evaluation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Evaluate the agent, not just the underlying model</a:t>
            </a:r>
            <a:endParaRPr lang="en-US" sz="1150" dirty="0"/>
          </a:p>
        </p:txBody>
      </p:sp>
      <p:pic>
        <p:nvPicPr>
          <p:cNvPr id="4" name="Image 0" descr="/mnt/data/48d4de8f-9532-442f-ba44-996c5b033f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201" y="1143000"/>
            <a:ext cx="5233239" cy="5212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41732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85800" y="1417320"/>
            <a:ext cx="64008" cy="100584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68680" y="156362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Target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1911096"/>
            <a:ext cx="46177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Shopping-Assistant (Agent)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85800" y="265176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" y="2651760"/>
            <a:ext cx="64008" cy="1005840"/>
          </a:xfrm>
          <a:prstGeom prst="rect">
            <a:avLst/>
          </a:prstGeom>
          <a:solidFill>
            <a:srgbClr val="2F6FED"/>
          </a:solidFill>
          <a:ln w="12700">
            <a:solidFill>
              <a:srgbClr val="2F6F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79806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Scope + data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68680" y="3145536"/>
            <a:ext cx="461772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5F6B7A"/>
                </a:solidFill>
              </a:rPr>
              <a:t>Individual turns + existing evaluation dataset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3886200"/>
            <a:ext cx="493776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5800" y="3886200"/>
            <a:ext cx="64008" cy="1417320"/>
          </a:xfrm>
          <a:prstGeom prst="rect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4032504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233C"/>
                </a:solidFill>
              </a:rPr>
              <a:t>Criteria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68680" y="4379976"/>
            <a:ext cx="461772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System: Task Completion, Task Adherence, Intent Resolution</a:t>
            </a:r>
            <a:endParaRPr lang="en-US" sz="1080" dirty="0"/>
          </a:p>
          <a:p>
            <a:pPr marL="0" indent="0">
              <a:buNone/>
            </a:pPr>
            <a:r>
              <a:rPr lang="en-US" sz="1080" dirty="0">
                <a:solidFill>
                  <a:srgbClr val="5F6B7A"/>
                </a:solidFill>
              </a:rPr>
              <a:t>Quality: Relevance, Groundedness, Coherence, Fluency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22960" y="5669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60" b="1" dirty="0">
                <a:solidFill>
                  <a:srgbClr val="17233C"/>
                </a:solidFill>
              </a:rPr>
              <a:t>Keep process/tool evaluators for a separate run so the result is easier to explain.</a:t>
            </a:r>
            <a:endParaRPr lang="en-US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4 — Read the result, not just the headline score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A single aggregate can hide a critical production weakness</a:t>
            </a:r>
            <a:endParaRPr lang="en-US" sz="1150" dirty="0"/>
          </a:p>
        </p:txBody>
      </p:sp>
      <p:pic>
        <p:nvPicPr>
          <p:cNvPr id="4" name="Image 0" descr="/mnt/data/b1e92848-16f4-4bdf-9707-4e830decf925.png"/>
          <p:cNvPicPr>
            <a:picLocks noChangeAspect="1"/>
          </p:cNvPicPr>
          <p:nvPr/>
        </p:nvPicPr>
        <p:blipFill>
          <a:blip r:embed="rId3"/>
          <a:srcRect l="11975" r="11975"/>
          <a:stretch/>
        </p:blipFill>
        <p:spPr>
          <a:xfrm>
            <a:off x="6080760" y="1325880"/>
            <a:ext cx="5440680" cy="3337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1508760"/>
            <a:ext cx="1417320" cy="16002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" y="1719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6B7A"/>
                </a:solidFill>
              </a:rPr>
              <a:t>Overall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77724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8A5B"/>
                </a:solidFill>
              </a:rPr>
              <a:t>88%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77240" y="2651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105 /120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331720" y="1508760"/>
            <a:ext cx="1417320" cy="16002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2423160" y="1719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6B7A"/>
                </a:solidFill>
              </a:rPr>
              <a:t>Task Completion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42316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97706"/>
                </a:solidFill>
              </a:rPr>
              <a:t>47%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423160" y="2651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7 /15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977640" y="1508760"/>
            <a:ext cx="1417320" cy="160020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069080" y="17190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5F6B7A"/>
                </a:solidFill>
              </a:rPr>
              <a:t>Task Adherence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069080" y="21488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6FED"/>
                </a:solidFill>
              </a:rPr>
              <a:t>80%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069080" y="26517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F6B7A"/>
                </a:solidFill>
              </a:rPr>
              <a:t>12 /15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85800" y="3657600"/>
            <a:ext cx="4892040" cy="1463040"/>
          </a:xfrm>
          <a:prstGeom prst="roundRect">
            <a:avLst>
              <a:gd name="adj" fmla="val 5000"/>
            </a:avLst>
          </a:prstGeom>
          <a:solidFill>
            <a:srgbClr val="F1ECFF"/>
          </a:solidFill>
          <a:ln w="12700">
            <a:solidFill>
              <a:srgbClr val="D9E0EA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85800" y="3657600"/>
            <a:ext cx="64008" cy="1463040"/>
          </a:xfrm>
          <a:prstGeom prst="rect">
            <a:avLst/>
          </a:prstGeom>
          <a:solidFill>
            <a:srgbClr val="6E42D8"/>
          </a:solidFill>
          <a:ln w="12700">
            <a:solidFill>
              <a:srgbClr val="6E4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33C"/>
                </a:solidFill>
              </a:rPr>
              <a:t>Workshop insight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68680" y="4151376"/>
            <a:ext cx="457200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“88% looks healthy, but Task Completion is only 47%.”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F6B7A"/>
                </a:solidFill>
              </a:rPr>
              <a:t>Evaluation decomposes quality and points us to the exact behavior that needs improvement.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126480" y="4983480"/>
            <a:ext cx="5303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Next live step: open failed rows → inspect evaluator explanation → change prompt → save new version → Add run → Compare runs.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Production-ready Foundry checklist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What I want you to remember after the session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820" y="13075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14600" y="128016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Choose prompt vs hosted intentionally; expose only necessary tools.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777240" y="2048256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5820" y="20574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8016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Ground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14600" y="2029968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Use authoritative tools for structured business data; retrieval for unstructured knowledge.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777240" y="2798064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45820" y="280720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7797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Observe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14600" y="2779776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Connect Application Insights; inspect traces before relying on final answers.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77240" y="3547872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20" y="35570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52958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Evaluate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14600" y="3529584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Measure outcome + process + quality + safety with repeatable datasets.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5820" y="43068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80160" y="4279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Version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42793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Treat prompt/model/tool changes as releases; compare versions on the same suite.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77240" y="5047488"/>
            <a:ext cx="320040" cy="320040"/>
          </a:xfrm>
          <a:prstGeom prst="ellipse">
            <a:avLst/>
          </a:prstGeom>
          <a:solidFill>
            <a:srgbClr val="168A5B"/>
          </a:solidFill>
          <a:ln w="12700">
            <a:solidFill>
              <a:srgbClr val="168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45820" y="50566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280160" y="5029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33C"/>
                </a:solidFill>
              </a:rPr>
              <a:t>Operate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514600" y="50292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F6B7A"/>
                </a:solidFill>
              </a:rPr>
              <a:t>Use monitoring, recurring evaluation, alerts, and trace-derived regression cases.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777240" y="5897880"/>
            <a:ext cx="10698480" cy="411480"/>
          </a:xfrm>
          <a:prstGeom prst="roundRect">
            <a:avLst>
              <a:gd name="adj" fmla="val 11111"/>
            </a:avLst>
          </a:prstGeom>
          <a:solidFill>
            <a:srgbClr val="0E1730"/>
          </a:solidFill>
          <a:ln w="12700">
            <a:solidFill>
              <a:srgbClr val="0E17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05840" y="601675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Observe what the agent did. Evaluate whether it was acceptable. Feed failures back into the next version.</a:t>
            </a:r>
            <a:endParaRPr lang="en-US" sz="11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3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Microsoft Learn resources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B7A"/>
                </a:solidFill>
              </a:rPr>
              <a:t>Recommended follow-up reading after the workshop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0392" y="1517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Agent Service overview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50392" y="1828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learn.microsoft.com/en-us/azure/ai-foundry/agents/overview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2514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0392" y="2660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Choose how to build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2971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learn.microsoft.com/en-us/azure/foundry/concepts/choose-build-approach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85800" y="3657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0392" y="3803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Agent development lifecycle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50392" y="4114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learn.microsoft.com/en-us/azure/foundry/agents/concepts/development-lifecycle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5800" y="4800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0392" y="4946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Observability concepts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50392" y="5257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learn.microsoft.com/en-us/azure/foundry/concepts/observability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72200" y="1371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36792" y="1517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Agent Monitoring 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36792" y="1828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learn.microsoft.com/en-us/azure/foundry/observability/how-to/how-to-monitor-agents-dashboard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2514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36792" y="2660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Run evaluations in the portal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36792" y="2971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learn.microsoft.com/en-us/azure/foundry/how-to/evaluate-generative-ai-app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72200" y="3657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3F6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36792" y="3803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Agent evaluators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36792" y="4114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learn.microsoft.com/en-us/azure/foundry/concepts/evaluation-evaluators/agent-evaluators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72200" y="4800600"/>
            <a:ext cx="51663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36792" y="49469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233C"/>
                </a:solidFill>
              </a:rPr>
              <a:t>Evaluate deployed interactions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336792" y="5257800"/>
            <a:ext cx="4754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2F6FED"/>
                </a:solidFill>
              </a:rPr>
              <a:t>learn.microsoft.com/en-us/azure/foundry/observability/how-to/cloud-evaluation-deployed-interactions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85800" y="5989320"/>
            <a:ext cx="10835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42D8"/>
                </a:solidFill>
              </a:rPr>
              <a:t>Thank you · Questions?</a:t>
            </a:r>
            <a:endParaRPr 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0432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9738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E72772-25A6-03C6-15F9-A2CD294AD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954" y="1244592"/>
            <a:ext cx="4644362" cy="405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161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2730</Words>
  <Application>Microsoft Office PowerPoint</Application>
  <PresentationFormat>Widescreen</PresentationFormat>
  <Paragraphs>584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Production-Ready AI Agents with Microsoft Foundry</dc:title>
  <dc:subject>Microsoft Foundry agents, observability, monitoring, and evaluation workshop</dc:subject>
  <dc:creator>OpenAI</dc:creator>
  <cp:lastModifiedBy>jothsna praveena pendyala</cp:lastModifiedBy>
  <cp:revision>6</cp:revision>
  <dcterms:created xsi:type="dcterms:W3CDTF">2026-09-05T17:02:28Z</dcterms:created>
  <dcterms:modified xsi:type="dcterms:W3CDTF">2026-09-11T05:30:57Z</dcterms:modified>
</cp:coreProperties>
</file>